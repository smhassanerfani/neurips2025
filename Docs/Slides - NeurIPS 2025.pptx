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308" r:id="rId3"/>
    <p:sldId id="323" r:id="rId4"/>
    <p:sldId id="271" r:id="rId5"/>
    <p:sldId id="319" r:id="rId6"/>
    <p:sldId id="258" r:id="rId7"/>
    <p:sldId id="257" r:id="rId8"/>
    <p:sldId id="275" r:id="rId9"/>
    <p:sldId id="321" r:id="rId10"/>
    <p:sldId id="322" r:id="rId11"/>
    <p:sldId id="272" r:id="rId12"/>
    <p:sldId id="32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5"/>
    <p:restoredTop sz="56402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46AFE-0326-E84B-A296-AACB1B203806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5756B-99AF-584A-A946-80DE5A9B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4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Hello, my name is Mohammad, and today on behalf of our research group, I will present our work entitled “</a:t>
            </a:r>
            <a:r>
              <a:rPr lang="en-US" sz="1200" dirty="0"/>
              <a:t>Interactive Atmospheric Composition Emulation for Next-Generation Earth System Models”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5756B-99AF-584A-A946-80DE5A9B96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2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project we are supposed to surrogate the atmospheric transport component of GISS Earth System Model (</a:t>
            </a:r>
            <a:r>
              <a:rPr lang="en-US" dirty="0" err="1"/>
              <a:t>ModelE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On the left you can see the schematic showing all the contributors for atmospheric composition in this ESM</a:t>
            </a:r>
          </a:p>
          <a:p>
            <a:endParaRPr lang="en-US" dirty="0"/>
          </a:p>
          <a:p>
            <a:r>
              <a:rPr lang="en-US" dirty="0"/>
              <a:t>To accurately emulate atmospheric transport, the ML model should learn to capture key </a:t>
            </a:r>
            <a:r>
              <a:rPr lang="en-US" b="1" dirty="0"/>
              <a:t>spatial dynamics</a:t>
            </a:r>
            <a:r>
              <a:rPr lang="en-US" dirty="0"/>
              <a:t>. This involves modeling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 advection</a:t>
            </a:r>
            <a:r>
              <a:rPr lang="en-US" dirty="0"/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vertical convection.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21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such a task, autoregressive rollout approach, is a common practice, but we decide to adopt spatiotemporal approach, as they consider a specific mechanism for capturing temporal dependencies, which is crucial for stable performance of the model over the long-term climate  projections.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5756B-99AF-584A-A946-80DE5A9B96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72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it’s really regardless of what type of temporal module we want to use, </a:t>
            </a:r>
          </a:p>
          <a:p>
            <a:r>
              <a:rPr lang="en-US" dirty="0"/>
              <a:t>we just need to include this mechanism to be able to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 both short-term patterns and longer-term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5756B-99AF-584A-A946-80DE5A9B96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51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3EF1-71CA-3C2F-6C73-1B33D8ED1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6FF94-3FFC-9580-D849-ADE8B7903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1DE13-400A-B0ED-474A-1FA117C1F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also introduced Profile-guided fusion module to properly account for the column physics, and capture the complex multi-level interactions and dependencies. This module receives 2D and 3D data as two separate modalities and fused them via </a:t>
            </a:r>
            <a:r>
              <a:rPr lang="en-US" b="0" i="0" dirty="0">
                <a:solidFill>
                  <a:srgbClr val="ECECEC"/>
                </a:solidFill>
                <a:effectLst/>
                <a:latin typeface="Inter"/>
              </a:rPr>
              <a:t>Spatial Feature Transform operator.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output of PGFM can be fed into any type of </a:t>
            </a:r>
            <a:r>
              <a:rPr lang="en-US" dirty="0" err="1"/>
              <a:t>spatio</a:t>
            </a:r>
            <a:r>
              <a:rPr lang="en-US" dirty="0"/>
              <a:t>-temporal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21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includes eight years of data with the half and hour resolution. This figure shows the emission of black carbon from biomass burning over these 8 years. </a:t>
            </a:r>
          </a:p>
          <a:p>
            <a:r>
              <a:rPr lang="en-US" dirty="0"/>
              <a:t>The orange parts are designated for train set and the magenta parts for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5756B-99AF-584A-A946-80DE5A9B96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62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In this study we calculate the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bcb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concetration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up until the pressure level that falls into troposphere.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However, given the fact that BCB concentration drop significantly after 656, we just include first 20 levels.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80E86A-FF02-DB4C-B4A0-17792F8EF3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42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show the results and compare BCB concentration profiles across 20 vertical levels for ML output versus ground truth data.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The profiles show the model ability to capture the vertical distribution pattern with a small marginal bias for different time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5756B-99AF-584A-A946-80DE5A9B96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58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show Annual mean for BCB column burden. </a:t>
            </a:r>
          </a:p>
          <a:p>
            <a:endParaRPr lang="en-US" dirty="0"/>
          </a:p>
          <a:p>
            <a:r>
              <a:rPr lang="en-US" dirty="0"/>
              <a:t>The left column is the ground truth from </a:t>
            </a:r>
            <a:r>
              <a:rPr lang="en-US" dirty="0" err="1"/>
              <a:t>ModelE</a:t>
            </a:r>
            <a:r>
              <a:rPr lang="en-US" dirty="0"/>
              <a:t> simulations. The middle column is the machine learning predictions, and the third column represents the bias (prediction - ground truth)</a:t>
            </a:r>
          </a:p>
          <a:p>
            <a:endParaRPr lang="en-US" dirty="0"/>
          </a:p>
          <a:p>
            <a:r>
              <a:rPr lang="en-US" dirty="0"/>
              <a:t>Results show for active areas the ML model generally have underestimation.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5756B-99AF-584A-A946-80DE5A9B96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90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Our findings confirm our central hypothesis that “architectural provisions” for temporal evolution and vertical atmospheric coupling result in model accuracy and physical consistency.</a:t>
            </a:r>
          </a:p>
          <a:p>
            <a:endParaRPr lang="en-US" dirty="0"/>
          </a:p>
          <a:p>
            <a:r>
              <a:rPr lang="en-US" dirty="0"/>
              <a:t>This is important especially in the case of climate modeling, where we need stable model performance for a long-term projections.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5756B-99AF-584A-A946-80DE5A9B96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54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6788-39D3-536C-6EF4-C806591E5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3641A-50BE-0353-018E-6F968FBE8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D5992-EF03-6DC9-830F-6DA8C0820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1BDF5-0FC1-747E-6A82-E4DA4E9A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4B395-8D10-12B2-C567-8277C3A81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8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6DA85-F0D8-89B8-61F5-7BE19BD3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DC391-7449-7B5C-56A1-12E7198CD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E6311-22FF-5F8B-B662-48AE359CD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94CF9-8D9A-D266-5346-D03D94F5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AC78E-17D3-429E-7B0D-45848E00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1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2861-3212-1CDB-4DD2-AD3FE043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F0B1F-F0C6-7D97-01BB-285ECC7AE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C2F77-7A92-8965-8241-138CAC09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753AC-18B9-05C7-709C-278E8762C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DAFE8-8292-C72B-56B3-20C63412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7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D4AF-D085-A42C-C8BA-8F8C1A85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886C-73E9-3A0B-BB07-4DE68A60D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9202C-7BB1-F06C-6B8F-0338C453A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2D348-6F52-80F6-D235-1966D9569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2A229-098E-B79A-ACFF-FC25FC72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99387-D2BD-506C-0CC6-9500E83C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9A75-26D3-8A8B-D19D-6EA7EAC9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BA72F-F4DD-043E-D541-11C06F122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E66DD-62E0-058B-982F-E13C79F50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A2379-408C-8DD4-5F66-DDFA9EFE3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8D556-DD0B-B5EF-1C2F-E12E0CF49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95447-1913-E551-B045-35EFE110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5B818-1C77-BF5F-9351-9C13746C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14590D-3B1C-2CC0-4EDE-7358CFC2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0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F5DC-C4EC-6C34-2418-8B7EA8CF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5BD25-D0CA-0251-BB96-E2D2A31F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6B2CD-61FB-3F96-AD67-E36168F7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9A1A8-D9DA-AECA-A37C-F62B0CA9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7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C9296-54E9-552E-B568-EB2FBBC0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4F389-8277-5330-6809-83DB2874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17C60-0B00-E255-C3BE-8275513E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7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BCC5-E1D8-1D58-D24D-68F294DED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5EF6-012F-AEDC-037C-B395458B4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41731-C062-76B7-6207-E175EC951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E5111-301C-5189-7699-2BC511DE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997A2-A2FC-8801-1548-F5805E09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D1FF-F8C7-3A70-F798-5701C91D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9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C6A2-4AD6-446B-DD50-80E602B4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BC032-4E82-F7A6-0A66-2FC6E07CC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2EF61-CB79-E0B0-573F-79C2854F9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6A0BA-F5E0-FA29-EEE6-A8E7C2EA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0E9D1-6549-A612-A305-0539062E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34B3D-D6FF-D252-4009-5A77F129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81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986E-6A0E-0AE6-D00A-B021D0E5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60316-1D56-9512-1593-EDF9E995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EE8B8-0F0F-C585-25CE-360488EE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84B36-79AB-301C-8F88-61F037F3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968E4-8966-5C8D-D8E6-97B2E323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5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0AA85-905F-B7CC-EF75-F2EFA8E6B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58BF3-F17A-BFDC-7D73-5113F96E0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83491-FED3-3050-1342-06992B48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68165-93E4-EAA8-98F2-B1879B69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BBF23-0607-B52E-B9AE-28D7353D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4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401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BFA22F-32D7-55BB-7A99-C71F62A1D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E51B7-076A-8191-C117-A0B4FF6EE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01B41-A63F-E5F6-BB41-1B3FC940F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5E1CA-867B-61F6-C009-819973902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79BE6-A8DF-EB79-7D1D-F162D56F3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15608-1FDF-AD48-8C21-5A407B794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3146-5FF6-1BEB-01CA-2EC356D2F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dirty="0"/>
              <a:t>Interactive Atmospheric Composition Emulation for Next-Generation Earth System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04882-2F04-E0B0-5933-6DD7F0473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9582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Mohammad H. Erfani</a:t>
            </a:r>
            <a:r>
              <a:rPr lang="en-US" baseline="30000" dirty="0"/>
              <a:t>1,3</a:t>
            </a:r>
            <a:r>
              <a:rPr lang="en-US" dirty="0"/>
              <a:t>, Kara D. Lamb</a:t>
            </a:r>
            <a:r>
              <a:rPr lang="en-US" baseline="30000" dirty="0"/>
              <a:t>2</a:t>
            </a:r>
            <a:r>
              <a:rPr lang="en-US" dirty="0"/>
              <a:t>, Susanne E. Bauer</a:t>
            </a:r>
            <a:r>
              <a:rPr lang="en-US" baseline="30000" dirty="0"/>
              <a:t>3</a:t>
            </a:r>
            <a:r>
              <a:rPr lang="en-US" dirty="0"/>
              <a:t>, Kostas Tsigaridis</a:t>
            </a:r>
            <a:r>
              <a:rPr lang="en-US" baseline="30000" dirty="0"/>
              <a:t>1,3</a:t>
            </a:r>
            <a:r>
              <a:rPr lang="en-US" dirty="0"/>
              <a:t>, Marcus van Lier-Walqui</a:t>
            </a:r>
            <a:r>
              <a:rPr lang="en-US" baseline="30000" dirty="0"/>
              <a:t>1,3</a:t>
            </a:r>
            <a:r>
              <a:rPr lang="en-US" dirty="0"/>
              <a:t>, and Gavin Schmidt</a:t>
            </a:r>
            <a:r>
              <a:rPr lang="en-US" baseline="30000" dirty="0"/>
              <a:t>3</a:t>
            </a:r>
            <a:endParaRPr lang="en-US" dirty="0"/>
          </a:p>
          <a:p>
            <a:r>
              <a:rPr lang="en-US" sz="1700" baseline="30000" dirty="0"/>
              <a:t>1</a:t>
            </a:r>
            <a:r>
              <a:rPr lang="en-US" sz="1700" dirty="0"/>
              <a:t>Center for Climate Systems Research, Columbia University</a:t>
            </a:r>
          </a:p>
          <a:p>
            <a:r>
              <a:rPr lang="en-US" sz="1700" baseline="30000" dirty="0"/>
              <a:t>2</a:t>
            </a:r>
            <a:r>
              <a:rPr lang="en-US" sz="1700" dirty="0"/>
              <a:t>Department of Earth and Environmental Engineering, Columbia University </a:t>
            </a:r>
          </a:p>
          <a:p>
            <a:r>
              <a:rPr lang="en-US" sz="1700" baseline="30000" dirty="0"/>
              <a:t>3</a:t>
            </a:r>
            <a:r>
              <a:rPr lang="en-US" sz="1700" dirty="0"/>
              <a:t>NASA Goddard Institute for Space Studies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7F6B23-DACD-E54A-7D5D-527F9D767C66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F0CDB71-8B38-E40F-9CD7-514EF38B9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3A264E-C39B-1A7B-0044-E0FF08273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25241-F92F-C1AF-7C66-115EDE40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18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5D511-3A1A-2D37-659E-FBB543DB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92E15-5659-A70E-02BE-992AC71E0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686291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Define the problem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EC63EE3-5535-9D8B-63FC-C40BF80AA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0722" y="1565090"/>
            <a:ext cx="5333200" cy="4555200"/>
          </a:xfrm>
        </p:spPr>
        <p:txBody>
          <a:bodyPr/>
          <a:lstStyle/>
          <a:p>
            <a:pPr marL="186262" indent="0">
              <a:buNone/>
            </a:pPr>
            <a:r>
              <a:rPr lang="en-US" dirty="0"/>
              <a:t>Atmospheric Transport Model</a:t>
            </a:r>
          </a:p>
        </p:txBody>
      </p:sp>
      <p:grpSp>
        <p:nvGrpSpPr>
          <p:cNvPr id="3" name="Google Shape;61;p14">
            <a:extLst>
              <a:ext uri="{FF2B5EF4-FFF2-40B4-BE49-F238E27FC236}">
                <a16:creationId xmlns:a16="http://schemas.microsoft.com/office/drawing/2014/main" id="{A874FACE-F05F-3425-BBE5-6F5F63361EAA}"/>
              </a:ext>
            </a:extLst>
          </p:cNvPr>
          <p:cNvGrpSpPr/>
          <p:nvPr/>
        </p:nvGrpSpPr>
        <p:grpSpPr>
          <a:xfrm>
            <a:off x="6361274" y="2273379"/>
            <a:ext cx="5143465" cy="1918034"/>
            <a:chOff x="1739898" y="1267206"/>
            <a:chExt cx="6340702" cy="2189724"/>
          </a:xfrm>
        </p:grpSpPr>
        <p:pic>
          <p:nvPicPr>
            <p:cNvPr id="4" name="Google Shape;62;p14">
              <a:extLst>
                <a:ext uri="{FF2B5EF4-FFF2-40B4-BE49-F238E27FC236}">
                  <a16:creationId xmlns:a16="http://schemas.microsoft.com/office/drawing/2014/main" id="{8A529B91-ED15-09A9-9092-9BC30C1940D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39898" y="1267206"/>
              <a:ext cx="5774994" cy="12527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63;p14">
              <a:extLst>
                <a:ext uri="{FF2B5EF4-FFF2-40B4-BE49-F238E27FC236}">
                  <a16:creationId xmlns:a16="http://schemas.microsoft.com/office/drawing/2014/main" id="{0DB425B5-7392-9624-C689-415284672C94}"/>
                </a:ext>
              </a:extLst>
            </p:cNvPr>
            <p:cNvSpPr txBox="1"/>
            <p:nvPr/>
          </p:nvSpPr>
          <p:spPr>
            <a:xfrm>
              <a:off x="2256962" y="2707526"/>
              <a:ext cx="2346432" cy="515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333" dirty="0">
                  <a:solidFill>
                    <a:schemeClr val="dk2"/>
                  </a:solidFill>
                </a:rPr>
                <a:t>Horizontal Advection</a:t>
              </a:r>
              <a:endParaRPr sz="1333" dirty="0">
                <a:solidFill>
                  <a:schemeClr val="dk2"/>
                </a:solidFill>
              </a:endParaRPr>
            </a:p>
          </p:txBody>
        </p:sp>
        <p:sp>
          <p:nvSpPr>
            <p:cNvPr id="6" name="Google Shape;64;p14">
              <a:extLst>
                <a:ext uri="{FF2B5EF4-FFF2-40B4-BE49-F238E27FC236}">
                  <a16:creationId xmlns:a16="http://schemas.microsoft.com/office/drawing/2014/main" id="{58768D41-654B-CFCD-C0FB-CD54BF6DAA94}"/>
                </a:ext>
              </a:extLst>
            </p:cNvPr>
            <p:cNvSpPr/>
            <p:nvPr/>
          </p:nvSpPr>
          <p:spPr>
            <a:xfrm rot="16200000">
              <a:off x="3379560" y="1698951"/>
              <a:ext cx="390900" cy="1597622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/>
            </a:p>
          </p:txBody>
        </p:sp>
        <p:sp>
          <p:nvSpPr>
            <p:cNvPr id="7" name="Google Shape;65;p14">
              <a:extLst>
                <a:ext uri="{FF2B5EF4-FFF2-40B4-BE49-F238E27FC236}">
                  <a16:creationId xmlns:a16="http://schemas.microsoft.com/office/drawing/2014/main" id="{6E44AC47-B102-1EC9-DA49-487B0126B17A}"/>
                </a:ext>
              </a:extLst>
            </p:cNvPr>
            <p:cNvSpPr txBox="1"/>
            <p:nvPr/>
          </p:nvSpPr>
          <p:spPr>
            <a:xfrm>
              <a:off x="4612998" y="2725232"/>
              <a:ext cx="2167325" cy="515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333" dirty="0">
                  <a:solidFill>
                    <a:schemeClr val="dk2"/>
                  </a:solidFill>
                </a:rPr>
                <a:t>Vertical Convection</a:t>
              </a:r>
              <a:endParaRPr sz="1333" dirty="0">
                <a:solidFill>
                  <a:schemeClr val="dk2"/>
                </a:solidFill>
              </a:endParaRPr>
            </a:p>
          </p:txBody>
        </p:sp>
        <p:sp>
          <p:nvSpPr>
            <p:cNvPr id="8" name="Google Shape;66;p14">
              <a:extLst>
                <a:ext uri="{FF2B5EF4-FFF2-40B4-BE49-F238E27FC236}">
                  <a16:creationId xmlns:a16="http://schemas.microsoft.com/office/drawing/2014/main" id="{E94B9352-9EEE-4589-84BD-122C6CFA4506}"/>
                </a:ext>
              </a:extLst>
            </p:cNvPr>
            <p:cNvSpPr/>
            <p:nvPr/>
          </p:nvSpPr>
          <p:spPr>
            <a:xfrm rot="16200000">
              <a:off x="5563694" y="1571577"/>
              <a:ext cx="390899" cy="1880999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/>
            </a:p>
          </p:txBody>
        </p:sp>
        <p:sp>
          <p:nvSpPr>
            <p:cNvPr id="9" name="Google Shape;67;p14">
              <a:extLst>
                <a:ext uri="{FF2B5EF4-FFF2-40B4-BE49-F238E27FC236}">
                  <a16:creationId xmlns:a16="http://schemas.microsoft.com/office/drawing/2014/main" id="{5C2D23A6-7995-1892-2668-4DA52BA0B105}"/>
                </a:ext>
              </a:extLst>
            </p:cNvPr>
            <p:cNvSpPr txBox="1"/>
            <p:nvPr/>
          </p:nvSpPr>
          <p:spPr>
            <a:xfrm>
              <a:off x="6544939" y="2707527"/>
              <a:ext cx="1535661" cy="749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333" dirty="0">
                  <a:solidFill>
                    <a:schemeClr val="dk2"/>
                  </a:solidFill>
                </a:rPr>
                <a:t>Sink/Source</a:t>
              </a:r>
              <a:endParaRPr sz="1333" dirty="0">
                <a:solidFill>
                  <a:schemeClr val="dk2"/>
                </a:solidFill>
              </a:endParaRPr>
            </a:p>
            <a:p>
              <a:pPr algn="ctr"/>
              <a:r>
                <a:rPr lang="en" sz="1333" dirty="0">
                  <a:solidFill>
                    <a:schemeClr val="dk2"/>
                  </a:solidFill>
                </a:rPr>
                <a:t>terms</a:t>
              </a:r>
              <a:endParaRPr sz="1333" dirty="0">
                <a:solidFill>
                  <a:schemeClr val="dk2"/>
                </a:solidFill>
              </a:endParaRPr>
            </a:p>
          </p:txBody>
        </p:sp>
        <p:sp>
          <p:nvSpPr>
            <p:cNvPr id="10" name="Google Shape;68;p14">
              <a:extLst>
                <a:ext uri="{FF2B5EF4-FFF2-40B4-BE49-F238E27FC236}">
                  <a16:creationId xmlns:a16="http://schemas.microsoft.com/office/drawing/2014/main" id="{6762C78A-6C6B-0B55-6D6C-69212AE1F3D6}"/>
                </a:ext>
              </a:extLst>
            </p:cNvPr>
            <p:cNvSpPr/>
            <p:nvPr/>
          </p:nvSpPr>
          <p:spPr>
            <a:xfrm rot="16200000">
              <a:off x="7079057" y="2257375"/>
              <a:ext cx="390900" cy="480773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</p:grpSp>
      <p:sp>
        <p:nvSpPr>
          <p:cNvPr id="11" name="Google Shape;69;p14">
            <a:extLst>
              <a:ext uri="{FF2B5EF4-FFF2-40B4-BE49-F238E27FC236}">
                <a16:creationId xmlns:a16="http://schemas.microsoft.com/office/drawing/2014/main" id="{C2A63FCE-843F-0DD9-75D6-30999048749A}"/>
              </a:ext>
            </a:extLst>
          </p:cNvPr>
          <p:cNvSpPr txBox="1"/>
          <p:nvPr/>
        </p:nvSpPr>
        <p:spPr>
          <a:xfrm>
            <a:off x="6096000" y="5319487"/>
            <a:ext cx="5215120" cy="67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en" sz="933" dirty="0">
                <a:solidFill>
                  <a:srgbClr val="222222"/>
                </a:solidFill>
                <a:highlight>
                  <a:srgbClr val="FFFFFF"/>
                </a:highlight>
              </a:rPr>
              <a:t>Benson, V., Bastos, A., Reimers, C., Winkler, A.J., Yang, F. and Reichstein, M., </a:t>
            </a:r>
            <a:r>
              <a:rPr lang="en" sz="933" b="1" u="sng" dirty="0">
                <a:solidFill>
                  <a:srgbClr val="222222"/>
                </a:solidFill>
                <a:highlight>
                  <a:srgbClr val="FFFFFF"/>
                </a:highlight>
              </a:rPr>
              <a:t>2025</a:t>
            </a:r>
            <a:r>
              <a:rPr lang="en" sz="933" u="sng" dirty="0">
                <a:solidFill>
                  <a:srgbClr val="222222"/>
                </a:solidFill>
                <a:highlight>
                  <a:srgbClr val="FFFFFF"/>
                </a:highlight>
              </a:rPr>
              <a:t>. </a:t>
            </a:r>
            <a:r>
              <a:rPr lang="en" sz="933" b="1" u="sng" dirty="0">
                <a:solidFill>
                  <a:srgbClr val="222222"/>
                </a:solidFill>
                <a:highlight>
                  <a:srgbClr val="FFFFFF"/>
                </a:highlight>
              </a:rPr>
              <a:t>Atmospheric transport modeling of CO2 with neural networks</a:t>
            </a:r>
            <a:r>
              <a:rPr lang="en" sz="933" dirty="0">
                <a:solidFill>
                  <a:srgbClr val="222222"/>
                </a:solidFill>
                <a:highlight>
                  <a:srgbClr val="FFFFFF"/>
                </a:highlight>
              </a:rPr>
              <a:t>. </a:t>
            </a:r>
            <a:r>
              <a:rPr lang="en" sz="933" i="1" dirty="0">
                <a:solidFill>
                  <a:srgbClr val="222222"/>
                </a:solidFill>
                <a:highlight>
                  <a:srgbClr val="FFFFFF"/>
                </a:highlight>
              </a:rPr>
              <a:t>Journal of Advances in Modeling Earth Systems</a:t>
            </a:r>
            <a:r>
              <a:rPr lang="en" sz="933" dirty="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" sz="933" i="1" dirty="0">
                <a:solidFill>
                  <a:srgbClr val="222222"/>
                </a:solidFill>
                <a:highlight>
                  <a:srgbClr val="FFFFFF"/>
                </a:highlight>
              </a:rPr>
              <a:t>17</a:t>
            </a:r>
            <a:r>
              <a:rPr lang="en" sz="933" dirty="0">
                <a:solidFill>
                  <a:srgbClr val="222222"/>
                </a:solidFill>
                <a:highlight>
                  <a:srgbClr val="FFFFFF"/>
                </a:highlight>
              </a:rPr>
              <a:t>(2), p.e2024MS004655.</a:t>
            </a:r>
            <a:endParaRPr sz="1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B7444BB-0AAE-269D-5043-A2B6C03385C4}"/>
              </a:ext>
            </a:extLst>
          </p:cNvPr>
          <p:cNvGrpSpPr>
            <a:grpSpLocks noChangeAspect="1"/>
          </p:cNvGrpSpPr>
          <p:nvPr/>
        </p:nvGrpSpPr>
        <p:grpSpPr>
          <a:xfrm>
            <a:off x="352413" y="2035785"/>
            <a:ext cx="4956113" cy="4320565"/>
            <a:chOff x="4550961" y="699661"/>
            <a:chExt cx="3580255" cy="336021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C82F1CB-8DB2-48CA-266A-D99D4A65F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0152" y="699661"/>
              <a:ext cx="3501064" cy="3129075"/>
            </a:xfrm>
            <a:prstGeom prst="rect">
              <a:avLst/>
            </a:prstGeom>
          </p:spPr>
        </p:pic>
        <p:sp>
          <p:nvSpPr>
            <p:cNvPr id="37" name="Google Shape;69;p14">
              <a:extLst>
                <a:ext uri="{FF2B5EF4-FFF2-40B4-BE49-F238E27FC236}">
                  <a16:creationId xmlns:a16="http://schemas.microsoft.com/office/drawing/2014/main" id="{6F551D57-B9D3-4FFC-1097-463FC3CEDCDC}"/>
                </a:ext>
              </a:extLst>
            </p:cNvPr>
            <p:cNvSpPr txBox="1"/>
            <p:nvPr/>
          </p:nvSpPr>
          <p:spPr>
            <a:xfrm>
              <a:off x="4550961" y="3740706"/>
              <a:ext cx="1685046" cy="319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 dirty="0">
                  <a:solidFill>
                    <a:srgbClr val="222222"/>
                  </a:solidFill>
                  <a:highlight>
                    <a:srgbClr val="FFFFFF"/>
                  </a:highlight>
                </a:rPr>
                <a:t>Image credit: Susanne E. Bauer</a:t>
              </a:r>
              <a:endParaRPr sz="1467" dirty="0"/>
            </a:p>
          </p:txBody>
        </p:sp>
      </p:grp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7AA001CE-5942-EBC1-55ED-15300082E5B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 lnSpcReduction="10000"/>
          </a:bodyPr>
          <a:lstStyle>
            <a:defPPr>
              <a:defRPr lang="en-US"/>
            </a:defPPr>
            <a:lvl1pPr marL="0" lvl="0" algn="r" defTabSz="914400" rtl="0" eaLnBrk="1" latinLnBrk="0" hangingPunct="1">
              <a:buNone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D15608-1FDF-AD48-8C21-5A407B7943AC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645204-6A37-7B30-8B4F-054B5D76BE10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4678C4B-F155-7C25-6E58-714F31A0A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506E97D-591D-65C7-F72F-8182DDB6D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C4AAA91-A767-92F9-FC91-C891F924471F}"/>
              </a:ext>
            </a:extLst>
          </p:cNvPr>
          <p:cNvSpPr txBox="1"/>
          <p:nvPr/>
        </p:nvSpPr>
        <p:spPr>
          <a:xfrm>
            <a:off x="352413" y="1491210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6262" indent="0">
              <a:buNone/>
            </a:pPr>
            <a:r>
              <a:rPr lang="en-US" dirty="0"/>
              <a:t>NASA GISS ESMs (</a:t>
            </a:r>
            <a:r>
              <a:rPr lang="en-US" dirty="0" err="1"/>
              <a:t>ModelE</a:t>
            </a:r>
            <a:r>
              <a:rPr lang="en-US" dirty="0"/>
              <a:t>)</a:t>
            </a:r>
          </a:p>
          <a:p>
            <a:pPr marL="186262" indent="0">
              <a:buNone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Atmospheric Composition Module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36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FB56A0-A138-CD29-210E-E29B2477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Conceptualization</a:t>
            </a:r>
            <a:br>
              <a:rPr lang="en-US" dirty="0"/>
            </a:b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Spatio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-temporal Machine Learning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A7C5390-87B9-68ED-B982-B514C5F81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503" t="7190" r="1972" b="8101"/>
          <a:stretch>
            <a:fillRect/>
          </a:stretch>
        </p:blipFill>
        <p:spPr>
          <a:xfrm>
            <a:off x="2421082" y="2462644"/>
            <a:ext cx="7554191" cy="304453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1FCD0-EE34-401A-2F96-C4CBD177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0B529F5-8AF0-DBC6-FAF5-F1A47AB4D2EC}"/>
              </a:ext>
            </a:extLst>
          </p:cNvPr>
          <p:cNvSpPr/>
          <p:nvPr/>
        </p:nvSpPr>
        <p:spPr>
          <a:xfrm>
            <a:off x="2139043" y="2066667"/>
            <a:ext cx="1750620" cy="3338843"/>
          </a:xfrm>
          <a:prstGeom prst="roundRect">
            <a:avLst/>
          </a:prstGeom>
          <a:noFill/>
          <a:ln w="127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CD6F47-D9F4-17E2-AA4D-E070D2858687}"/>
              </a:ext>
            </a:extLst>
          </p:cNvPr>
          <p:cNvSpPr/>
          <p:nvPr/>
        </p:nvSpPr>
        <p:spPr>
          <a:xfrm>
            <a:off x="4301834" y="5067086"/>
            <a:ext cx="2327565" cy="3384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F779D5-DE19-F3EE-CCF5-D999756DDF2A}"/>
              </a:ext>
            </a:extLst>
          </p:cNvPr>
          <p:cNvSpPr/>
          <p:nvPr/>
        </p:nvSpPr>
        <p:spPr>
          <a:xfrm>
            <a:off x="4301835" y="2066667"/>
            <a:ext cx="4208319" cy="3338843"/>
          </a:xfrm>
          <a:prstGeom prst="roundRect">
            <a:avLst/>
          </a:prstGeom>
          <a:noFill/>
          <a:ln w="127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E64348F-9EA0-4445-F00E-C7478AB58023}"/>
              </a:ext>
            </a:extLst>
          </p:cNvPr>
          <p:cNvSpPr/>
          <p:nvPr/>
        </p:nvSpPr>
        <p:spPr>
          <a:xfrm>
            <a:off x="8714509" y="2066667"/>
            <a:ext cx="1338448" cy="3338843"/>
          </a:xfrm>
          <a:prstGeom prst="roundRect">
            <a:avLst/>
          </a:prstGeom>
          <a:noFill/>
          <a:ln w="1270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D816FB-248C-971C-3CB3-BC684D4BA25C}"/>
              </a:ext>
            </a:extLst>
          </p:cNvPr>
          <p:cNvCxnSpPr/>
          <p:nvPr/>
        </p:nvCxnSpPr>
        <p:spPr>
          <a:xfrm flipV="1">
            <a:off x="2327564" y="2462644"/>
            <a:ext cx="0" cy="277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473079E-930B-5B9E-D3DF-F61626492705}"/>
              </a:ext>
            </a:extLst>
          </p:cNvPr>
          <p:cNvSpPr txBox="1"/>
          <p:nvPr/>
        </p:nvSpPr>
        <p:spPr>
          <a:xfrm rot="16200000">
            <a:off x="334595" y="3551421"/>
            <a:ext cx="2965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Sequence of Input Variables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C461AA-5CBE-7A5B-C388-8FF5FDC2B0FA}"/>
              </a:ext>
            </a:extLst>
          </p:cNvPr>
          <p:cNvSpPr txBox="1"/>
          <p:nvPr/>
        </p:nvSpPr>
        <p:spPr>
          <a:xfrm>
            <a:off x="5219002" y="5460762"/>
            <a:ext cx="2373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Recurrent 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48AF4-8CD7-8537-9BE0-23ABE51A09E3}"/>
              </a:ext>
            </a:extLst>
          </p:cNvPr>
          <p:cNvSpPr txBox="1"/>
          <p:nvPr/>
        </p:nvSpPr>
        <p:spPr>
          <a:xfrm rot="16200000">
            <a:off x="8552327" y="3551422"/>
            <a:ext cx="3670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Target Variable at Desired Timestep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261418-370D-9F1F-BACE-F566003D23D5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F5BF344-95C5-34C9-CE49-C171062FD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FA0D808-BC1D-1FD5-F47B-F878A25BA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771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F467EB9-BEB7-D14D-1488-98F552B2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Temporal Dependencies</a:t>
            </a:r>
            <a:br>
              <a:rPr lang="en-US" dirty="0"/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Short-term Patterns / Long-term Trends 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CF0B7-C202-1EFC-821E-A94F4BF8D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short-term memory (LSTM)</a:t>
            </a:r>
          </a:p>
        </p:txBody>
      </p:sp>
      <p:pic>
        <p:nvPicPr>
          <p:cNvPr id="10" name="Content Placeholder 9" descr="A diagram of a multiplying algorithm&#10;&#10;AI-generated content may be incorrect.">
            <a:extLst>
              <a:ext uri="{FF2B5EF4-FFF2-40B4-BE49-F238E27FC236}">
                <a16:creationId xmlns:a16="http://schemas.microsoft.com/office/drawing/2014/main" id="{16BB11C8-F2C6-9AF2-E1D9-A5B5CD6817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640142"/>
            <a:ext cx="5157787" cy="3414454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B790E1-E7FC-6BAE-9EF0-C1B56E55B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1063E-9246-37BD-7BA3-08EA11D80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53" y="5944964"/>
            <a:ext cx="913017" cy="7315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AAB120-9248-9664-AFDE-B89C779987B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0687" t="12023" r="10841" b="12977"/>
          <a:stretch/>
        </p:blipFill>
        <p:spPr>
          <a:xfrm>
            <a:off x="1103641" y="5944964"/>
            <a:ext cx="1020515" cy="73152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EEA90B-2E20-67AA-B6F7-5C3042D3C41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6"/>
          <a:stretch>
            <a:fillRect/>
          </a:stretch>
        </p:blipFill>
        <p:spPr>
          <a:xfrm>
            <a:off x="7341326" y="2505075"/>
            <a:ext cx="2844936" cy="368458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9162BA-4EEE-AD3C-CD95-22C9C368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0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C197-EA39-A048-CBC2-A62459CF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C92CF653-650A-840E-B74E-FF8DD21872E0}"/>
              </a:ext>
            </a:extLst>
          </p:cNvPr>
          <p:cNvGrpSpPr>
            <a:grpSpLocks noChangeAspect="1"/>
          </p:cNvGrpSpPr>
          <p:nvPr/>
        </p:nvGrpSpPr>
        <p:grpSpPr>
          <a:xfrm>
            <a:off x="6560907" y="366395"/>
            <a:ext cx="5177216" cy="6126480"/>
            <a:chOff x="926592" y="54678"/>
            <a:chExt cx="4090416" cy="484041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44D90B27-BBEB-1E83-164B-AD50FFD8906A}"/>
                </a:ext>
              </a:extLst>
            </p:cNvPr>
            <p:cNvSpPr/>
            <p:nvPr/>
          </p:nvSpPr>
          <p:spPr>
            <a:xfrm>
              <a:off x="2193351" y="453529"/>
              <a:ext cx="1591574" cy="329961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8EBF9C-8784-4AB2-0DA3-C6AA63A5D8AF}"/>
                </a:ext>
              </a:extLst>
            </p:cNvPr>
            <p:cNvSpPr txBox="1"/>
            <p:nvPr/>
          </p:nvSpPr>
          <p:spPr>
            <a:xfrm>
              <a:off x="2248855" y="54678"/>
              <a:ext cx="1489401" cy="392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X2D: B×T×6×1×H×W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X3D: B×T×8×L×H×W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20E02F2-305A-D11C-7736-12EA931D3B86}"/>
                </a:ext>
              </a:extLst>
            </p:cNvPr>
            <p:cNvGrpSpPr/>
            <p:nvPr/>
          </p:nvGrpSpPr>
          <p:grpSpPr>
            <a:xfrm>
              <a:off x="1121664" y="1135854"/>
              <a:ext cx="3681983" cy="1022160"/>
              <a:chOff x="724304" y="1623681"/>
              <a:chExt cx="3681983" cy="1022160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49DBA3DA-B2C9-78E3-B9DD-E9864721E196}"/>
                  </a:ext>
                </a:extLst>
              </p:cNvPr>
              <p:cNvSpPr/>
              <p:nvPr/>
            </p:nvSpPr>
            <p:spPr>
              <a:xfrm>
                <a:off x="724304" y="1623681"/>
                <a:ext cx="3681983" cy="1022160"/>
              </a:xfrm>
              <a:prstGeom prst="roundRect">
                <a:avLst/>
              </a:prstGeom>
              <a:ln w="9525"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75714D7-8F5A-4110-580C-9E272049628E}"/>
                  </a:ext>
                </a:extLst>
              </p:cNvPr>
              <p:cNvGrpSpPr/>
              <p:nvPr/>
            </p:nvGrpSpPr>
            <p:grpSpPr>
              <a:xfrm>
                <a:off x="832333" y="1725023"/>
                <a:ext cx="3468023" cy="860960"/>
                <a:chOff x="789285" y="1530258"/>
                <a:chExt cx="3468023" cy="860960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BEF1903-D68A-60D5-926B-DB23396E73BE}"/>
                    </a:ext>
                  </a:extLst>
                </p:cNvPr>
                <p:cNvGrpSpPr/>
                <p:nvPr/>
              </p:nvGrpSpPr>
              <p:grpSpPr>
                <a:xfrm>
                  <a:off x="789285" y="1530258"/>
                  <a:ext cx="1646027" cy="860959"/>
                  <a:chOff x="789285" y="1530258"/>
                  <a:chExt cx="1646027" cy="860959"/>
                </a:xfrm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5B7CBD5C-B681-4007-088C-36280770AF9C}"/>
                      </a:ext>
                    </a:extLst>
                  </p:cNvPr>
                  <p:cNvGrpSpPr/>
                  <p:nvPr/>
                </p:nvGrpSpPr>
                <p:grpSpPr>
                  <a:xfrm>
                    <a:off x="789285" y="1530258"/>
                    <a:ext cx="1646027" cy="614332"/>
                    <a:chOff x="2367591" y="897546"/>
                    <a:chExt cx="2194703" cy="819109"/>
                  </a:xfrm>
                </p:grpSpPr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9AFB1877-D92C-6508-72E7-BBB53C11A4F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67591" y="897546"/>
                      <a:ext cx="219470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(B×T)×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(6×1)×H×W</a:t>
                      </a:r>
                    </a:p>
                  </p:txBody>
                </p:sp>
                <p:sp>
                  <p:nvSpPr>
                    <p:cNvPr id="45" name="Rounded Rectangle 44">
                      <a:extLst>
                        <a:ext uri="{FF2B5EF4-FFF2-40B4-BE49-F238E27FC236}">
                          <a16:creationId xmlns:a16="http://schemas.microsoft.com/office/drawing/2014/main" id="{371F9B9A-7490-2672-310F-2759555A2D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03895" y="1276707"/>
                      <a:ext cx="2122098" cy="439948"/>
                    </a:xfrm>
                    <a:prstGeom prst="roundRect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 Spatial Encoder</a:t>
                      </a:r>
                    </a:p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2×(5×5 conv, 64)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43367FD-3AA3-26CE-DD70-CF3BE7ADDE0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1558" y="2160384"/>
                    <a:ext cx="1101482" cy="23083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(B×T)×</a:t>
                    </a:r>
                    <a:r>
                      <a: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</a:t>
                    </a:r>
                    <a:r>
                      <a:rPr lang="en-US" sz="1400" baseline="-250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r>
                      <a: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×H×W </a:t>
                    </a:r>
                    <a:endParaRPr lang="en-US" sz="1400" dirty="0">
                      <a:solidFill>
                        <a:srgbClr val="00B050"/>
                      </a:solidFill>
                    </a:endParaRPr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9B5DA45-2123-7A2E-B5D3-79E36B6C10A7}"/>
                    </a:ext>
                  </a:extLst>
                </p:cNvPr>
                <p:cNvGrpSpPr/>
                <p:nvPr/>
              </p:nvGrpSpPr>
              <p:grpSpPr>
                <a:xfrm>
                  <a:off x="2548730" y="1530259"/>
                  <a:ext cx="1708578" cy="860959"/>
                  <a:chOff x="776014" y="1891325"/>
                  <a:chExt cx="2278104" cy="1147945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0AE7E8A3-822B-07AF-6581-52AFABA82F39}"/>
                      </a:ext>
                    </a:extLst>
                  </p:cNvPr>
                  <p:cNvGrpSpPr/>
                  <p:nvPr/>
                </p:nvGrpSpPr>
                <p:grpSpPr>
                  <a:xfrm>
                    <a:off x="776014" y="1891325"/>
                    <a:ext cx="2278104" cy="811689"/>
                    <a:chOff x="77274" y="904968"/>
                    <a:chExt cx="2278104" cy="811689"/>
                  </a:xfrm>
                </p:grpSpPr>
                <p:sp>
                  <p:nvSpPr>
                    <p:cNvPr id="27" name="Rounded Rectangle 26">
                      <a:extLst>
                        <a:ext uri="{FF2B5EF4-FFF2-40B4-BE49-F238E27FC236}">
                          <a16:creationId xmlns:a16="http://schemas.microsoft.com/office/drawing/2014/main" id="{D9C20536-A616-F94E-DE18-BDD6008825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276" y="1276709"/>
                      <a:ext cx="2122098" cy="439948"/>
                    </a:xfrm>
                    <a:prstGeom prst="roundRect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Spatial Encoder</a:t>
                      </a:r>
                    </a:p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2×(5×5 conv, 64)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A1515211-33DE-9D2D-AB81-A7A4FC3FD1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274" y="904968"/>
                      <a:ext cx="227810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(B×T)×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(8×L)×H×W</a:t>
                      </a:r>
                    </a:p>
                  </p:txBody>
                </p:sp>
              </p:grp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312F0543-51B7-28C9-3C6E-3BE46A94E180}"/>
                      </a:ext>
                    </a:extLst>
                  </p:cNvPr>
                  <p:cNvSpPr txBox="1"/>
                  <p:nvPr/>
                </p:nvSpPr>
                <p:spPr>
                  <a:xfrm>
                    <a:off x="1180745" y="2731493"/>
                    <a:ext cx="1468643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(B×T)×</a:t>
                    </a:r>
                    <a:r>
                      <a: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</a:t>
                    </a:r>
                    <a:r>
                      <a:rPr lang="en-US" sz="1400" baseline="-250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×H×W</a:t>
                    </a:r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en-US" sz="1400" dirty="0"/>
                  </a:p>
                </p:txBody>
              </p:sp>
            </p:grpSp>
          </p:grp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92114D0-E364-BC16-B0D1-CD2CC7E901E3}"/>
                </a:ext>
              </a:extLst>
            </p:cNvPr>
            <p:cNvCxnSpPr>
              <a:cxnSpLocks/>
            </p:cNvCxnSpPr>
            <p:nvPr/>
          </p:nvCxnSpPr>
          <p:spPr>
            <a:xfrm>
              <a:off x="2989138" y="877062"/>
              <a:ext cx="0" cy="258792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85A6008-5EC4-DADE-1E42-BD55B74FE062}"/>
                </a:ext>
              </a:extLst>
            </p:cNvPr>
            <p:cNvGrpSpPr/>
            <p:nvPr/>
          </p:nvGrpSpPr>
          <p:grpSpPr>
            <a:xfrm>
              <a:off x="2438396" y="2401532"/>
              <a:ext cx="1101482" cy="791116"/>
              <a:chOff x="2528544" y="2450592"/>
              <a:chExt cx="1101482" cy="791116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45F3C917-99C2-83BA-93CF-D75D049BD307}"/>
                  </a:ext>
                </a:extLst>
              </p:cNvPr>
              <p:cNvSpPr/>
              <p:nvPr/>
            </p:nvSpPr>
            <p:spPr>
              <a:xfrm>
                <a:off x="2528544" y="2450592"/>
                <a:ext cx="1101482" cy="534523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SFT</a:t>
                </a:r>
              </a:p>
              <a:p>
                <a:pPr algn="ctr"/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C5DF83B-F32D-58E7-1B2E-2413B629C7BF}"/>
                      </a:ext>
                    </a:extLst>
                  </p:cNvPr>
                  <p:cNvSpPr txBox="1"/>
                  <p:nvPr/>
                </p:nvSpPr>
                <p:spPr>
                  <a:xfrm>
                    <a:off x="2784704" y="2730268"/>
                    <a:ext cx="600934" cy="16158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C5DF83B-F32D-58E7-1B2E-2413B629C7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4704" y="2730268"/>
                    <a:ext cx="600934" cy="16158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077" t="-5556" r="-6154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45CC31D-AE5D-AA72-B735-0EA9A60E355C}"/>
                  </a:ext>
                </a:extLst>
              </p:cNvPr>
              <p:cNvSpPr txBox="1"/>
              <p:nvPr/>
            </p:nvSpPr>
            <p:spPr>
              <a:xfrm>
                <a:off x="2555600" y="3010875"/>
                <a:ext cx="1047370" cy="230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B×</a:t>
                </a:r>
                <a:r>
                  <a:rPr lang="en-US" sz="1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T×F</a:t>
                </a:r>
                <a:r>
                  <a:rPr lang="en-US" sz="14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1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×H×W</a:t>
                </a:r>
                <a:r>
                  <a:rPr lang="en-US" sz="14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400" dirty="0">
                  <a:solidFill>
                    <a:schemeClr val="accent6"/>
                  </a:solidFill>
                </a:endParaRP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0EEBD51-30BB-292E-19EA-D2CBC88A042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137" y="2074494"/>
              <a:ext cx="0" cy="258792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4919663B-0793-5ED6-BEAF-7CAFE8832C75}"/>
                </a:ext>
              </a:extLst>
            </p:cNvPr>
            <p:cNvSpPr/>
            <p:nvPr/>
          </p:nvSpPr>
          <p:spPr>
            <a:xfrm>
              <a:off x="926592" y="976290"/>
              <a:ext cx="4090416" cy="2252639"/>
            </a:xfrm>
            <a:prstGeom prst="roundRect">
              <a:avLst/>
            </a:prstGeom>
            <a:noFill/>
            <a:ln w="9525" cap="flat" cmpd="sng" algn="ctr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89B2020-727A-99DB-4478-FEC9DB65F940}"/>
                </a:ext>
              </a:extLst>
            </p:cNvPr>
            <p:cNvSpPr txBox="1"/>
            <p:nvPr/>
          </p:nvSpPr>
          <p:spPr>
            <a:xfrm>
              <a:off x="2262668" y="3821854"/>
              <a:ext cx="1467023" cy="230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B×1×</a:t>
              </a:r>
              <a:r>
                <a:rPr lang="en-US" sz="1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F×H×W 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240C12B1-48CB-54D1-1A90-E434578F4728}"/>
                </a:ext>
              </a:extLst>
            </p:cNvPr>
            <p:cNvSpPr/>
            <p:nvPr/>
          </p:nvSpPr>
          <p:spPr>
            <a:xfrm>
              <a:off x="2200393" y="3487269"/>
              <a:ext cx="1591574" cy="329961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ConvLSTM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3×64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25A2F7E-FECA-1517-51F0-A00233889D11}"/>
                </a:ext>
              </a:extLst>
            </p:cNvPr>
            <p:cNvCxnSpPr>
              <a:cxnSpLocks/>
            </p:cNvCxnSpPr>
            <p:nvPr/>
          </p:nvCxnSpPr>
          <p:spPr>
            <a:xfrm>
              <a:off x="2991234" y="3203444"/>
              <a:ext cx="0" cy="258792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AFCD3044-632F-DB74-3EF7-E7815C4CA974}"/>
                </a:ext>
              </a:extLst>
            </p:cNvPr>
            <p:cNvSpPr/>
            <p:nvPr/>
          </p:nvSpPr>
          <p:spPr>
            <a:xfrm>
              <a:off x="2193350" y="4329918"/>
              <a:ext cx="1591574" cy="32996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Readout Layer</a:t>
              </a:r>
            </a:p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(1×1 conv)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F6B0845-C37C-40ED-A33C-05CD8E1FAAAE}"/>
                    </a:ext>
                  </a:extLst>
                </p:cNvPr>
                <p:cNvSpPr txBox="1"/>
                <p:nvPr/>
              </p:nvSpPr>
              <p:spPr>
                <a:xfrm>
                  <a:off x="2371679" y="4659879"/>
                  <a:ext cx="1234916" cy="2352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B×1×L×H×W </a:t>
                  </a: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F6B0845-C37C-40ED-A33C-05CD8E1FAA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1679" y="4659879"/>
                  <a:ext cx="1234916" cy="235209"/>
                </a:xfrm>
                <a:prstGeom prst="rect">
                  <a:avLst/>
                </a:prstGeom>
                <a:blipFill>
                  <a:blip r:embed="rId4"/>
                  <a:stretch>
                    <a:fillRect t="-3846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DB1EB4F-2CCD-256B-F966-0D4C19CFBC85}"/>
                </a:ext>
              </a:extLst>
            </p:cNvPr>
            <p:cNvCxnSpPr>
              <a:cxnSpLocks/>
            </p:cNvCxnSpPr>
            <p:nvPr/>
          </p:nvCxnSpPr>
          <p:spPr>
            <a:xfrm>
              <a:off x="2995233" y="4023360"/>
              <a:ext cx="0" cy="258792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AF30423-F779-C527-53DC-5FA7DEDA956B}"/>
              </a:ext>
            </a:extLst>
          </p:cNvPr>
          <p:cNvSpPr txBox="1"/>
          <p:nvPr/>
        </p:nvSpPr>
        <p:spPr>
          <a:xfrm>
            <a:off x="587374" y="4008926"/>
            <a:ext cx="550993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Font typeface="+mj-lt"/>
              <a:buAutoNum type="arabicParenR"/>
            </a:pP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Gao,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Zhangyang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Simvp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Simpler yet better video prediction."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IEEE/CVF conference on computer vision and pattern recognition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2022.</a:t>
            </a:r>
          </a:p>
          <a:p>
            <a:pPr marL="228600" indent="-228600" algn="just">
              <a:buFont typeface="+mj-lt"/>
              <a:buAutoNum type="arabicParenR"/>
            </a:pPr>
            <a:endParaRPr lang="en-US" sz="105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228600" indent="-228600" algn="just">
              <a:buFont typeface="+mj-lt"/>
              <a:buAutoNum type="arabicParenR"/>
            </a:pP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Tan, Cheng, et al. "Temporal attention unit: Towards efficient spatiotemporal predictive learning."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IEEE/CVF Conference on Computer Vision and Pattern Recognition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2023.</a:t>
            </a:r>
          </a:p>
          <a:p>
            <a:pPr marL="228600" indent="-228600" algn="just">
              <a:buFont typeface="+mj-lt"/>
              <a:buAutoNum type="arabicParenR"/>
            </a:pPr>
            <a:endParaRPr lang="en-US" sz="105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228600" indent="-228600" algn="just">
              <a:buFont typeface="+mj-lt"/>
              <a:buAutoNum type="arabicParenR"/>
            </a:pP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Wang,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Xintao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"Recovering realistic texture in image super-resolution by deep spatial feature transform."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2018.</a:t>
            </a:r>
            <a:endParaRPr lang="en-US" sz="105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15E491-3103-7E97-0319-3595EFEF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  <a:br>
              <a:rPr lang="en-US" dirty="0"/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Profile-Guided Fusion Module (PGFM)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C508F-2CEE-3BB8-E2AF-93AF79CE7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346E1E-899B-3F38-62F3-AB903B071647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D63F02-AEBB-F41E-EAC7-258919818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F7C6AEC-35EB-9EE0-346D-BE9B26B0E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627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7CD3BAE-8EF7-20BB-DE81-BF3DDEE0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BCB Emission Sources</a:t>
            </a:r>
            <a:br>
              <a:rPr lang="en-US" dirty="0"/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Global Daily average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285195-1CF7-59C1-7EED-1846EB127314}"/>
              </a:ext>
            </a:extLst>
          </p:cNvPr>
          <p:cNvGrpSpPr>
            <a:grpSpLocks noChangeAspect="1"/>
          </p:cNvGrpSpPr>
          <p:nvPr/>
        </p:nvGrpSpPr>
        <p:grpSpPr>
          <a:xfrm>
            <a:off x="1158240" y="2892673"/>
            <a:ext cx="9875519" cy="2468879"/>
            <a:chOff x="906326" y="2335959"/>
            <a:chExt cx="7772400" cy="1943100"/>
          </a:xfrm>
        </p:grpSpPr>
        <p:pic>
          <p:nvPicPr>
            <p:cNvPr id="12" name="Picture 11" descr="A graph with red and blue lines&#10;&#10;AI-generated content may be incorrect.">
              <a:extLst>
                <a:ext uri="{FF2B5EF4-FFF2-40B4-BE49-F238E27FC236}">
                  <a16:creationId xmlns:a16="http://schemas.microsoft.com/office/drawing/2014/main" id="{A099D280-E6FA-CCAA-CD52-DD174FD4D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6326" y="2335959"/>
              <a:ext cx="7772400" cy="19431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1CC91B-4C1A-2BEC-CF4E-4A8AC4ABE221}"/>
                </a:ext>
              </a:extLst>
            </p:cNvPr>
            <p:cNvSpPr/>
            <p:nvPr/>
          </p:nvSpPr>
          <p:spPr>
            <a:xfrm>
              <a:off x="4167105" y="2369431"/>
              <a:ext cx="1665254" cy="1572783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6DEA10-163D-CFAE-49BA-9D1D5775F6E7}"/>
                </a:ext>
              </a:extLst>
            </p:cNvPr>
            <p:cNvSpPr/>
            <p:nvPr/>
          </p:nvSpPr>
          <p:spPr>
            <a:xfrm>
              <a:off x="3334478" y="2364425"/>
              <a:ext cx="832627" cy="1572783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6E1E15-7ED9-B148-0509-5274711B5784}"/>
                </a:ext>
              </a:extLst>
            </p:cNvPr>
            <p:cNvSpPr/>
            <p:nvPr/>
          </p:nvSpPr>
          <p:spPr>
            <a:xfrm>
              <a:off x="5832359" y="2364424"/>
              <a:ext cx="832627" cy="1572783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E92AA0-E138-1264-21A5-88BE4FDFF61B}"/>
                </a:ext>
              </a:extLst>
            </p:cNvPr>
            <p:cNvSpPr/>
            <p:nvPr/>
          </p:nvSpPr>
          <p:spPr>
            <a:xfrm>
              <a:off x="6664986" y="2364424"/>
              <a:ext cx="1665254" cy="1572783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8421752-9977-8B8D-6A42-368D4187788B}"/>
                </a:ext>
              </a:extLst>
            </p:cNvPr>
            <p:cNvSpPr/>
            <p:nvPr/>
          </p:nvSpPr>
          <p:spPr>
            <a:xfrm>
              <a:off x="1666538" y="2359420"/>
              <a:ext cx="1665254" cy="1572783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C345650-1364-7F43-CEDB-E76789CE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6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54CFCA-E784-5202-74BC-787E284D2C90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0CF34AB-D113-F16F-5D38-2B7FF67C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6F8379-4909-7FD3-0591-3037DE378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775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183DA15-666B-1275-2F20-A2A3EA31F4AC}"/>
              </a:ext>
            </a:extLst>
          </p:cNvPr>
          <p:cNvGrpSpPr/>
          <p:nvPr/>
        </p:nvGrpSpPr>
        <p:grpSpPr>
          <a:xfrm>
            <a:off x="965911" y="1701550"/>
            <a:ext cx="10260177" cy="4026932"/>
            <a:chOff x="1110904" y="1252663"/>
            <a:chExt cx="10260177" cy="4026932"/>
          </a:xfrm>
        </p:grpSpPr>
        <p:pic>
          <p:nvPicPr>
            <p:cNvPr id="12" name="Picture 11" descr="A graph with a green line&#10;&#10;AI-generated content may be incorrect.">
              <a:extLst>
                <a:ext uri="{FF2B5EF4-FFF2-40B4-BE49-F238E27FC236}">
                  <a16:creationId xmlns:a16="http://schemas.microsoft.com/office/drawing/2014/main" id="{16A6D1CE-FEC4-7BA2-BDF1-936F5FD80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346"/>
            <a:stretch>
              <a:fillRect/>
            </a:stretch>
          </p:blipFill>
          <p:spPr>
            <a:xfrm>
              <a:off x="9011074" y="1621995"/>
              <a:ext cx="2360007" cy="3657600"/>
            </a:xfrm>
            <a:prstGeom prst="rect">
              <a:avLst/>
            </a:prstGeom>
          </p:spPr>
        </p:pic>
        <p:pic>
          <p:nvPicPr>
            <p:cNvPr id="10" name="Picture 9" descr="A graph with a green line&#10;&#10;AI-generated content may be incorrect.">
              <a:extLst>
                <a:ext uri="{FF2B5EF4-FFF2-40B4-BE49-F238E27FC236}">
                  <a16:creationId xmlns:a16="http://schemas.microsoft.com/office/drawing/2014/main" id="{4DB3BAA4-D51A-C3C9-9840-915859F0A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346"/>
            <a:stretch>
              <a:fillRect/>
            </a:stretch>
          </p:blipFill>
          <p:spPr>
            <a:xfrm>
              <a:off x="6524029" y="1621995"/>
              <a:ext cx="2360007" cy="36576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998F78-B6EB-660B-B39A-6321D36E8DDD}"/>
                </a:ext>
              </a:extLst>
            </p:cNvPr>
            <p:cNvSpPr txBox="1"/>
            <p:nvPr/>
          </p:nvSpPr>
          <p:spPr>
            <a:xfrm>
              <a:off x="4732747" y="1252663"/>
              <a:ext cx="968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2012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1A0C09-18CE-C317-EA8D-517D313B5B0D}"/>
                </a:ext>
              </a:extLst>
            </p:cNvPr>
            <p:cNvSpPr txBox="1"/>
            <p:nvPr/>
          </p:nvSpPr>
          <p:spPr>
            <a:xfrm>
              <a:off x="7228889" y="1252663"/>
              <a:ext cx="968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2020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F647A2-7841-2607-C649-E58E885FD270}"/>
                </a:ext>
              </a:extLst>
            </p:cNvPr>
            <p:cNvSpPr txBox="1"/>
            <p:nvPr/>
          </p:nvSpPr>
          <p:spPr>
            <a:xfrm>
              <a:off x="9715934" y="1256065"/>
              <a:ext cx="968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 2021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68DDABC-8BE3-0CB5-4C0A-538F7F33754B}"/>
                </a:ext>
              </a:extLst>
            </p:cNvPr>
            <p:cNvSpPr txBox="1"/>
            <p:nvPr/>
          </p:nvSpPr>
          <p:spPr>
            <a:xfrm>
              <a:off x="2316474" y="1252663"/>
              <a:ext cx="968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1853</a:t>
              </a:r>
            </a:p>
          </p:txBody>
        </p:sp>
        <p:pic>
          <p:nvPicPr>
            <p:cNvPr id="3" name="Picture 2" descr="A graph with a line drawn on it&#10;&#10;AI-generated content may be incorrect.">
              <a:extLst>
                <a:ext uri="{FF2B5EF4-FFF2-40B4-BE49-F238E27FC236}">
                  <a16:creationId xmlns:a16="http://schemas.microsoft.com/office/drawing/2014/main" id="{B3268417-9B92-067C-6691-8284095EF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0904" y="1621995"/>
              <a:ext cx="2926080" cy="36576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9B94E69-7B53-9BBA-CCF2-06E2114B6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9346"/>
            <a:stretch>
              <a:fillRect/>
            </a:stretch>
          </p:blipFill>
          <p:spPr>
            <a:xfrm>
              <a:off x="4036984" y="1621995"/>
              <a:ext cx="2360007" cy="36576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8D7DB9-4053-6458-E40C-478B622624C9}"/>
                </a:ext>
              </a:extLst>
            </p:cNvPr>
            <p:cNvSpPr/>
            <p:nvPr/>
          </p:nvSpPr>
          <p:spPr>
            <a:xfrm>
              <a:off x="1733856" y="3086191"/>
              <a:ext cx="2130552" cy="764037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BFDEE0-AD74-4ED0-FF68-933F27183CD1}"/>
                </a:ext>
              </a:extLst>
            </p:cNvPr>
            <p:cNvSpPr/>
            <p:nvPr/>
          </p:nvSpPr>
          <p:spPr>
            <a:xfrm>
              <a:off x="1730681" y="3851275"/>
              <a:ext cx="2133294" cy="1011984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394F427-A72B-4CE6-FA4E-6369B8CCE13E}"/>
                </a:ext>
              </a:extLst>
            </p:cNvPr>
            <p:cNvSpPr/>
            <p:nvPr/>
          </p:nvSpPr>
          <p:spPr>
            <a:xfrm>
              <a:off x="4092881" y="3081878"/>
              <a:ext cx="2267712" cy="764037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ED1EF0-0D8D-BC07-DB68-92FC7A801259}"/>
                </a:ext>
              </a:extLst>
            </p:cNvPr>
            <p:cNvSpPr/>
            <p:nvPr/>
          </p:nvSpPr>
          <p:spPr>
            <a:xfrm>
              <a:off x="4089706" y="3846962"/>
              <a:ext cx="2267712" cy="1011984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FFF4EE-773E-8B9D-F1E6-366CD787B716}"/>
                </a:ext>
              </a:extLst>
            </p:cNvPr>
            <p:cNvSpPr/>
            <p:nvPr/>
          </p:nvSpPr>
          <p:spPr>
            <a:xfrm>
              <a:off x="6579274" y="3085144"/>
              <a:ext cx="2267712" cy="764037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AD6B2B-EEBA-67D0-56C6-B5ECC1D0355E}"/>
                </a:ext>
              </a:extLst>
            </p:cNvPr>
            <p:cNvSpPr/>
            <p:nvPr/>
          </p:nvSpPr>
          <p:spPr>
            <a:xfrm>
              <a:off x="6576099" y="3850228"/>
              <a:ext cx="2267712" cy="1011984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B1E2F66-81F0-713E-7CD5-9973D3ED01E1}"/>
                </a:ext>
              </a:extLst>
            </p:cNvPr>
            <p:cNvSpPr/>
            <p:nvPr/>
          </p:nvSpPr>
          <p:spPr>
            <a:xfrm>
              <a:off x="9068624" y="3081878"/>
              <a:ext cx="2267712" cy="764037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9F26CB4-0569-6AF6-A84B-6F5C2F17A917}"/>
                </a:ext>
              </a:extLst>
            </p:cNvPr>
            <p:cNvSpPr/>
            <p:nvPr/>
          </p:nvSpPr>
          <p:spPr>
            <a:xfrm>
              <a:off x="9065449" y="3846962"/>
              <a:ext cx="2267712" cy="1011984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742F6970-5F54-556D-3D75-CF45F457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Vertical profiles of BCB Conc. </a:t>
            </a:r>
            <a:br>
              <a:rPr lang="en-US" dirty="0"/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62 Atmospheric Levels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0031A-66C4-00AB-8E7B-E2F1FD44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7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8EA217-BA0E-2D14-0265-97BF8A4FCB3E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6D1E70E-03A6-3525-749F-F0304E1D8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B32F6C8-8FCF-3C28-DE9C-080BF0BB2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6176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0F3C-BB26-2311-4019-297518E6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profiles of BCB Conc. </a:t>
            </a:r>
            <a:br>
              <a:rPr lang="en-US" dirty="0"/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 Atmospheric Levels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760ACC-2619-BE43-45F7-3A0A2C62CD0D}"/>
              </a:ext>
            </a:extLst>
          </p:cNvPr>
          <p:cNvGrpSpPr/>
          <p:nvPr/>
        </p:nvGrpSpPr>
        <p:grpSpPr>
          <a:xfrm>
            <a:off x="1686246" y="2030779"/>
            <a:ext cx="8819508" cy="3590421"/>
            <a:chOff x="161900" y="683405"/>
            <a:chExt cx="8819508" cy="3590421"/>
          </a:xfrm>
        </p:grpSpPr>
        <p:pic>
          <p:nvPicPr>
            <p:cNvPr id="18" name="Picture 17" descr="A graph with a red line&#10;&#10;AI-generated content may be incorrect.">
              <a:extLst>
                <a:ext uri="{FF2B5EF4-FFF2-40B4-BE49-F238E27FC236}">
                  <a16:creationId xmlns:a16="http://schemas.microsoft.com/office/drawing/2014/main" id="{97CA2E1F-9738-08FE-730E-3087F6506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3876" y="880110"/>
              <a:ext cx="2557532" cy="3383280"/>
            </a:xfrm>
            <a:prstGeom prst="rect">
              <a:avLst/>
            </a:prstGeom>
          </p:spPr>
        </p:pic>
        <p:pic>
          <p:nvPicPr>
            <p:cNvPr id="19" name="Picture 18" descr="A graph with a red line&#10;&#10;AI-generated content may be incorrect.">
              <a:extLst>
                <a:ext uri="{FF2B5EF4-FFF2-40B4-BE49-F238E27FC236}">
                  <a16:creationId xmlns:a16="http://schemas.microsoft.com/office/drawing/2014/main" id="{F75F33FA-1FE7-6E6F-8E56-C7AAB3775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6782" y="880111"/>
              <a:ext cx="2556839" cy="3382362"/>
            </a:xfrm>
            <a:prstGeom prst="rect">
              <a:avLst/>
            </a:prstGeom>
          </p:spPr>
        </p:pic>
        <p:pic>
          <p:nvPicPr>
            <p:cNvPr id="20" name="Picture 19" descr="A graph with a red line&#10;&#10;AI-generated content may be incorrect.">
              <a:extLst>
                <a:ext uri="{FF2B5EF4-FFF2-40B4-BE49-F238E27FC236}">
                  <a16:creationId xmlns:a16="http://schemas.microsoft.com/office/drawing/2014/main" id="{1080BD16-F67E-D57F-6F00-DEFFDADE7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49687" y="880111"/>
              <a:ext cx="2556839" cy="338236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993C86-DB27-E81F-C589-19093DE5E8F8}"/>
                </a:ext>
              </a:extLst>
            </p:cNvPr>
            <p:cNvSpPr txBox="1"/>
            <p:nvPr/>
          </p:nvSpPr>
          <p:spPr>
            <a:xfrm>
              <a:off x="3314868" y="683405"/>
              <a:ext cx="7970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2012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A412FE-896B-01E8-AF8A-521D64BF1370}"/>
                </a:ext>
              </a:extLst>
            </p:cNvPr>
            <p:cNvSpPr txBox="1"/>
            <p:nvPr/>
          </p:nvSpPr>
          <p:spPr>
            <a:xfrm>
              <a:off x="5420046" y="683405"/>
              <a:ext cx="7873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2020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BF5263-B090-88F5-2567-B1B70408E035}"/>
                </a:ext>
              </a:extLst>
            </p:cNvPr>
            <p:cNvSpPr txBox="1"/>
            <p:nvPr/>
          </p:nvSpPr>
          <p:spPr>
            <a:xfrm>
              <a:off x="7507140" y="683405"/>
              <a:ext cx="7970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 2021</a:t>
              </a:r>
            </a:p>
          </p:txBody>
        </p:sp>
        <p:pic>
          <p:nvPicPr>
            <p:cNvPr id="24" name="Picture 23" descr="A graph with a blue line&#10;&#10;AI-generated content may be incorrect.">
              <a:extLst>
                <a:ext uri="{FF2B5EF4-FFF2-40B4-BE49-F238E27FC236}">
                  <a16:creationId xmlns:a16="http://schemas.microsoft.com/office/drawing/2014/main" id="{DB3B3B79-E22F-6AF7-CB73-66F97B3AB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900" y="890546"/>
              <a:ext cx="2557532" cy="338328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E5AE29-D393-8A28-F25A-0375BE4F0C23}"/>
                </a:ext>
              </a:extLst>
            </p:cNvPr>
            <p:cNvSpPr txBox="1"/>
            <p:nvPr/>
          </p:nvSpPr>
          <p:spPr>
            <a:xfrm>
              <a:off x="1209690" y="683405"/>
              <a:ext cx="7873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1853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2C19670-2E1D-2A97-CBC9-E7382161C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0250" y="1047552"/>
              <a:ext cx="957845" cy="260466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E3ABE06-8CB5-D84A-8623-87BE94255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00172" y="1044377"/>
              <a:ext cx="957845" cy="260466"/>
            </a:xfrm>
            <a:prstGeom prst="rect">
              <a:avLst/>
            </a:prstGeom>
          </p:spPr>
        </p:pic>
      </p:grp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91E223A-D1F6-C77B-3FBE-34CBFA89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8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28E939-BD79-073C-CB02-81ACAE75DD74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A9D2726-9746-3DA5-BBD7-FA563775A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E16BA9-4DB0-5A15-1865-66147DE90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8166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82B0-CBAD-BDA2-7F3F-2688AD64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BCB Column Burden</a:t>
            </a:r>
            <a:br>
              <a:rPr lang="en-US" dirty="0"/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Annual Average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0" name="Picture 19" descr="A map of the world with a graph&#10;&#10;AI-generated content may be incorrect.">
            <a:extLst>
              <a:ext uri="{FF2B5EF4-FFF2-40B4-BE49-F238E27FC236}">
                <a16:creationId xmlns:a16="http://schemas.microsoft.com/office/drawing/2014/main" id="{02DAA58F-3EDC-EB18-1790-63E02E6EED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914"/>
          <a:stretch>
            <a:fillRect/>
          </a:stretch>
        </p:blipFill>
        <p:spPr>
          <a:xfrm>
            <a:off x="1936032" y="5710381"/>
            <a:ext cx="8319933" cy="64374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3A3F701-45F1-FE26-24E3-187797AE972A}"/>
              </a:ext>
            </a:extLst>
          </p:cNvPr>
          <p:cNvGrpSpPr/>
          <p:nvPr/>
        </p:nvGrpSpPr>
        <p:grpSpPr>
          <a:xfrm>
            <a:off x="1936033" y="3710991"/>
            <a:ext cx="8319933" cy="1837423"/>
            <a:chOff x="266399" y="3485735"/>
            <a:chExt cx="7772400" cy="1716503"/>
          </a:xfrm>
        </p:grpSpPr>
        <p:pic>
          <p:nvPicPr>
            <p:cNvPr id="22" name="Picture 21" descr="A map of the world with orange spots&#10;&#10;AI-generated content may be incorrect.">
              <a:extLst>
                <a:ext uri="{FF2B5EF4-FFF2-40B4-BE49-F238E27FC236}">
                  <a16:creationId xmlns:a16="http://schemas.microsoft.com/office/drawing/2014/main" id="{BF0868F6-A95D-F35E-AB57-BF779AE08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241" b="25544"/>
            <a:stretch>
              <a:fillRect/>
            </a:stretch>
          </p:blipFill>
          <p:spPr>
            <a:xfrm>
              <a:off x="266399" y="3855067"/>
              <a:ext cx="7772400" cy="134717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FAEE91-EEA9-F726-AD74-7F75E0F6E015}"/>
                </a:ext>
              </a:extLst>
            </p:cNvPr>
            <p:cNvSpPr txBox="1"/>
            <p:nvPr/>
          </p:nvSpPr>
          <p:spPr>
            <a:xfrm>
              <a:off x="3829433" y="348573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2021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411E9D-BAA3-2A57-63A9-101CAB2D924C}"/>
              </a:ext>
            </a:extLst>
          </p:cNvPr>
          <p:cNvGrpSpPr/>
          <p:nvPr/>
        </p:nvGrpSpPr>
        <p:grpSpPr>
          <a:xfrm>
            <a:off x="1936034" y="1607560"/>
            <a:ext cx="8319933" cy="1837423"/>
            <a:chOff x="613658" y="2151475"/>
            <a:chExt cx="7772400" cy="1716503"/>
          </a:xfrm>
        </p:grpSpPr>
        <p:pic>
          <p:nvPicPr>
            <p:cNvPr id="25" name="Picture 24" descr="A map of the world&#10;&#10;AI-generated content may be incorrect.">
              <a:extLst>
                <a:ext uri="{FF2B5EF4-FFF2-40B4-BE49-F238E27FC236}">
                  <a16:creationId xmlns:a16="http://schemas.microsoft.com/office/drawing/2014/main" id="{68A05D6A-711A-5126-C536-9FD54E41E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241" b="25544"/>
            <a:stretch>
              <a:fillRect/>
            </a:stretch>
          </p:blipFill>
          <p:spPr>
            <a:xfrm>
              <a:off x="613658" y="2520807"/>
              <a:ext cx="7772400" cy="134717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494FE0-7A43-46B9-30DC-3D7994C8C659}"/>
                </a:ext>
              </a:extLst>
            </p:cNvPr>
            <p:cNvSpPr txBox="1"/>
            <p:nvPr/>
          </p:nvSpPr>
          <p:spPr>
            <a:xfrm>
              <a:off x="4176692" y="215147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2012</a:t>
              </a:r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4654FE10-EC44-633D-FBF1-2F30039D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9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D56C30-C15A-7E2F-AB6E-E3CBB136CEFB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E337D96-C27F-31D2-C24C-C853099F0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63626C-0577-FBB4-5109-2503A0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7180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676A-5C5D-24A5-A821-BD485FE2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8D22-8902-2EBC-1E67-0CC4272E3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Architectural provisions </a:t>
            </a:r>
          </a:p>
          <a:p>
            <a:pPr lvl="1"/>
            <a:r>
              <a:rPr lang="en-US" dirty="0"/>
              <a:t>Temporal evolution </a:t>
            </a:r>
          </a:p>
          <a:p>
            <a:pPr lvl="1"/>
            <a:r>
              <a:rPr lang="en-US" dirty="0"/>
              <a:t>Vertical atmospheric coupling</a:t>
            </a:r>
          </a:p>
          <a:p>
            <a:pPr lvl="1"/>
            <a:endParaRPr lang="en-US" dirty="0"/>
          </a:p>
          <a:p>
            <a:r>
              <a:rPr lang="en-US" dirty="0"/>
              <a:t>Climate modeling</a:t>
            </a:r>
          </a:p>
          <a:p>
            <a:pPr lvl="1"/>
            <a:r>
              <a:rPr lang="en-US" dirty="0"/>
              <a:t>Stable performance over long-term projection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79B71-6E35-6AE9-6366-0D2CAE66C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A4A1A-74E1-DE2A-31C0-8946EB83DAE7}"/>
              </a:ext>
            </a:extLst>
          </p:cNvPr>
          <p:cNvSpPr txBox="1"/>
          <p:nvPr/>
        </p:nvSpPr>
        <p:spPr>
          <a:xfrm>
            <a:off x="6984250" y="5807631"/>
            <a:ext cx="4460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Preprint: </a:t>
            </a:r>
            <a:r>
              <a:rPr lang="en-US" u="sng" dirty="0">
                <a:solidFill>
                  <a:schemeClr val="accent4"/>
                </a:solidFill>
              </a:rPr>
              <a:t>https://</a:t>
            </a:r>
            <a:r>
              <a:rPr lang="en-US" u="sng" dirty="0" err="1">
                <a:solidFill>
                  <a:schemeClr val="accent4"/>
                </a:solidFill>
              </a:rPr>
              <a:t>arxiv.org</a:t>
            </a:r>
            <a:r>
              <a:rPr lang="en-US" u="sng" dirty="0">
                <a:solidFill>
                  <a:schemeClr val="accent4"/>
                </a:solidFill>
              </a:rPr>
              <a:t>/abs/2510.10654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2F69FC8-69E5-C85A-E684-7837D2A014E3}"/>
              </a:ext>
            </a:extLst>
          </p:cNvPr>
          <p:cNvGrpSpPr/>
          <p:nvPr/>
        </p:nvGrpSpPr>
        <p:grpSpPr>
          <a:xfrm>
            <a:off x="110264" y="6264275"/>
            <a:ext cx="1208459" cy="457200"/>
            <a:chOff x="110264" y="6264275"/>
            <a:chExt cx="1208459" cy="4572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0CF9D6F-095F-B57D-6A91-3707A1161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64" y="6264275"/>
              <a:ext cx="570636" cy="4572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A1DBB3-EA7F-61FA-6E8C-CE0C8536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10687" t="12023" r="10841" b="12977"/>
            <a:stretch/>
          </p:blipFill>
          <p:spPr>
            <a:xfrm>
              <a:off x="680900" y="6264275"/>
              <a:ext cx="637823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8288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6FEE-D9F8-893C-F8C1-8F7BEF45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  <a:br>
              <a:rPr lang="en-US" dirty="0"/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Short-term Patterns / Long-term Trends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CDA285-82C1-D3F7-B667-C9F0763DB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9102" y="1825625"/>
            <a:ext cx="6573795" cy="435133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04FE0D-B527-7EFE-C632-EE6F4BEF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00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2D0C-183D-D4E7-7420-E988B708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Performance</a:t>
            </a:r>
            <a:br>
              <a:rPr lang="en-US" dirty="0"/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</a:t>
            </a:r>
            <a:r>
              <a:rPr lang="en-US" sz="24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Comparison across Different Pressure Levels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A64385-6B27-07CD-A0C5-267898C9F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128" y="2761082"/>
            <a:ext cx="11233743" cy="1877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76E8B5-86D4-1D02-1112-7D3A74640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3" y="5944964"/>
            <a:ext cx="913017" cy="731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16FFEA-C45D-9451-74CB-7450A292734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0687" t="12023" r="10841" b="12977"/>
          <a:stretch/>
        </p:blipFill>
        <p:spPr>
          <a:xfrm>
            <a:off x="1103641" y="5944964"/>
            <a:ext cx="1020515" cy="7315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8B6B4-F806-92F2-1140-081F7004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5608-1FDF-AD48-8C21-5A407B7943AC}" type="slidenum">
              <a:rPr lang="en-US" smtClean="0"/>
              <a:t>12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4C5D28-542C-32AE-6CC7-1ED2F2D62C1F}"/>
              </a:ext>
            </a:extLst>
          </p:cNvPr>
          <p:cNvCxnSpPr/>
          <p:nvPr/>
        </p:nvCxnSpPr>
        <p:spPr>
          <a:xfrm>
            <a:off x="1604356" y="2761082"/>
            <a:ext cx="37822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AE7C16-8401-F5F5-75F9-5C6832B828B4}"/>
              </a:ext>
            </a:extLst>
          </p:cNvPr>
          <p:cNvSpPr txBox="1"/>
          <p:nvPr/>
        </p:nvSpPr>
        <p:spPr>
          <a:xfrm>
            <a:off x="2927877" y="2364946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L01</a:t>
            </a:r>
            <a:r>
              <a:rPr lang="en-US" dirty="0">
                <a:solidFill>
                  <a:schemeClr val="accent2"/>
                </a:solidFill>
                <a:sym typeface="Wingdings" pitchFamily="2" charset="2"/>
              </a:rPr>
              <a:t>L05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0B76F-2045-C566-6A3E-D672497CC30E}"/>
              </a:ext>
            </a:extLst>
          </p:cNvPr>
          <p:cNvSpPr txBox="1"/>
          <p:nvPr/>
        </p:nvSpPr>
        <p:spPr>
          <a:xfrm>
            <a:off x="5822526" y="236494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E4124-740F-D280-4DC9-A3375F8D36E6}"/>
              </a:ext>
            </a:extLst>
          </p:cNvPr>
          <p:cNvSpPr txBox="1"/>
          <p:nvPr/>
        </p:nvSpPr>
        <p:spPr>
          <a:xfrm>
            <a:off x="6663931" y="236433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L15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98273C-BD13-FEF1-5F19-2BE3B3EEF76A}"/>
              </a:ext>
            </a:extLst>
          </p:cNvPr>
          <p:cNvCxnSpPr/>
          <p:nvPr/>
        </p:nvCxnSpPr>
        <p:spPr>
          <a:xfrm>
            <a:off x="7442662" y="2733669"/>
            <a:ext cx="37822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436266-2EE5-281A-8ECB-538BD2BA9B98}"/>
              </a:ext>
            </a:extLst>
          </p:cNvPr>
          <p:cNvSpPr txBox="1"/>
          <p:nvPr/>
        </p:nvSpPr>
        <p:spPr>
          <a:xfrm>
            <a:off x="8766183" y="233753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L16</a:t>
            </a:r>
            <a:r>
              <a:rPr lang="en-US" dirty="0">
                <a:solidFill>
                  <a:schemeClr val="accent2"/>
                </a:solidFill>
                <a:sym typeface="Wingdings" pitchFamily="2" charset="2"/>
              </a:rPr>
              <a:t>L20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71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1902</TotalTime>
  <Words>1015</Words>
  <Application>Microsoft Macintosh PowerPoint</Application>
  <PresentationFormat>Widescreen</PresentationFormat>
  <Paragraphs>123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-apple-system</vt:lpstr>
      <vt:lpstr>Aptos</vt:lpstr>
      <vt:lpstr>Aptos Display</vt:lpstr>
      <vt:lpstr>Arial</vt:lpstr>
      <vt:lpstr>Cambria Math</vt:lpstr>
      <vt:lpstr>Inter</vt:lpstr>
      <vt:lpstr>Times New Roman</vt:lpstr>
      <vt:lpstr>Wingdings</vt:lpstr>
      <vt:lpstr>Office Theme</vt:lpstr>
      <vt:lpstr>Interactive Atmospheric Composition Emulation for Next-Generation Earth System Models</vt:lpstr>
      <vt:lpstr>Define the problem</vt:lpstr>
      <vt:lpstr>Model Conceptualization Spatio-temporal Machine Learning</vt:lpstr>
      <vt:lpstr>Capture Temporal Dependencies Short-term Patterns / Long-term Trends </vt:lpstr>
      <vt:lpstr>Model Architecture Profile-Guided Fusion Module (PGFM)</vt:lpstr>
      <vt:lpstr>BCB Emission Sources Global Daily average</vt:lpstr>
      <vt:lpstr>Vertical profiles of BCB Conc.  62 Atmospheric Levels</vt:lpstr>
      <vt:lpstr>Vertical profiles of BCB Conc.  20 Atmospheric Levels</vt:lpstr>
      <vt:lpstr>BCB Column Burden Annual Average</vt:lpstr>
      <vt:lpstr>Conclusion</vt:lpstr>
      <vt:lpstr>LSTM Short-term Patterns / Long-term Trends</vt:lpstr>
      <vt:lpstr>Model Performance R2 Comparison across Different Pressure Levels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Erfani, Seyed Mohammad Hassan</dc:creator>
  <cp:lastModifiedBy>Erfani, Seyed Mohammad Hassan</cp:lastModifiedBy>
  <cp:revision>22</cp:revision>
  <dcterms:created xsi:type="dcterms:W3CDTF">2024-11-12T14:35:17Z</dcterms:created>
  <dcterms:modified xsi:type="dcterms:W3CDTF">2025-10-24T17:43:13Z</dcterms:modified>
</cp:coreProperties>
</file>